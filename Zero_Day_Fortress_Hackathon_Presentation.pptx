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394960" y="1097280"/>
            <a:ext cx="1371600" cy="1371600"/>
          </a:xfrm>
          <a:prstGeom prst="diamond">
            <a:avLst/>
          </a:prstGeom>
          <a:noFill/>
          <a:ln w="381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ZERO DAY FORTRESS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Autonomous AI Red vs Blue Team Cyber Defense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Continuous AI-driven cyber war inside your codebase — so real hackers never win.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760720"/>
            <a:ext cx="1463040" cy="3657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0A1A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760720"/>
            <a:ext cx="1371600" cy="36576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MULTI-LLM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760720"/>
            <a:ext cx="1371600" cy="36576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0A1A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5760720"/>
            <a:ext cx="1554480" cy="36576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AUTONOMOUS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E3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560320" cy="2560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0044"/>
                </a:solidFill>
                <a:latin typeface="Calibri"/>
              </a:defRPr>
            </a:pPr>
            <a:r>
              <a:t>$4.88M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Average cost of a</a:t>
            </a:r>
            <a:br/>
            <a:r>
              <a:t>data breach in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2560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35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Of breaches involve</a:t>
            </a:r>
            <a:br/>
            <a:r>
              <a:t>human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560320" cy="2560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30045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D600"/>
                </a:solidFill>
                <a:latin typeface="Calibri"/>
              </a:defRPr>
            </a:pPr>
            <a:r>
              <a:t>277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770" y="2971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Average time to identify</a:t>
            </a:r>
            <a:br/>
            <a:r>
              <a:t>&amp; contain a breach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463040"/>
            <a:ext cx="2560320" cy="2560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3E3E"/>
                </a:solidFill>
                <a:latin typeface="Calibri"/>
              </a:defRPr>
            </a:pPr>
            <a:r>
              <a:t>3,500+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New CVEs published</a:t>
            </a:r>
            <a:br/>
            <a:r>
              <a:t>every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11064240" cy="209677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707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D600"/>
                </a:solidFill>
                <a:latin typeface="Calibri"/>
              </a:defRPr>
            </a:pPr>
            <a:r>
              <a:t>Current Security Tools Fall Short: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70709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•  Manual penetration testing is expensive, slow, and infrequent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•  Static analyzers produce too many false positives — alert fatigue kills response time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•  Most tools find vulnerabilities but DON'T fix them — developers still carry the burden</a:t>
            </a:r>
          </a:p>
          <a:p>
            <a:pPr algn="l">
              <a:spcAft>
                <a:spcPts val="400"/>
              </a:spcAft>
              <a:defRPr sz="1700" b="0">
                <a:solidFill>
                  <a:srgbClr val="B0B0C0"/>
                </a:solidFill>
                <a:latin typeface="Calibri"/>
              </a:defRPr>
            </a:pPr>
            <a:r>
              <a:t>•  No tool provides continuous, autonomous attack + defense + compliance in one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8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OUR SOLUTION: ZERO DAY FORTRESS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10260"/>
            <a:ext cx="320040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An autonomous AI platform that attacks your code, fixes every vulnerability, and proves the fixes work — all in one continuous battle.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41148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3E3E"/>
                </a:solidFill>
                <a:latin typeface="Calibri"/>
              </a:defRPr>
            </a:pPr>
            <a:r>
              <a:t>ATTACK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200400"/>
            <a:ext cx="201168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AI Red Team agents</a:t>
            </a:r>
            <a:br/>
            <a:r>
              <a:t>autonomously scan, exploit,</a:t>
            </a:r>
            <a:br/>
            <a:r>
              <a:t>and chain vulnerabilities</a:t>
            </a:r>
            <a:br/>
            <a:r>
              <a:t>in your codebase.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212080"/>
            <a:ext cx="2560320" cy="9144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3E3E"/>
                </a:solidFill>
                <a:latin typeface="Calibri"/>
              </a:defRPr>
            </a:pPr>
            <a:r>
              <a:t>Spider • Blade</a:t>
            </a:r>
            <a:br/>
            <a:r>
              <a:t>Venom • Phantom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3474720" cy="41148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DEFEND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320040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AI Blue Team agents</a:t>
            </a:r>
            <a:br/>
            <a:r>
              <a:t>generate patches, verify fixes,</a:t>
            </a:r>
            <a:br/>
            <a:r>
              <a:t>harden infrastructure,</a:t>
            </a:r>
            <a:br/>
            <a:r>
              <a:t>and ensure compliance.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5212080"/>
            <a:ext cx="2560320" cy="9144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5303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FF88"/>
                </a:solidFill>
                <a:latin typeface="Calibri"/>
              </a:defRPr>
            </a:pPr>
            <a:r>
              <a:t>Shield • Proof</a:t>
            </a:r>
            <a:br/>
            <a:r>
              <a:t>Fortress • Auditor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286000"/>
            <a:ext cx="3474720" cy="41148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55F7"/>
                </a:solidFill>
                <a:latin typeface="Calibri"/>
              </a:defRPr>
            </a:pPr>
            <a:r>
              <a:t>COMPARE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3200400"/>
            <a:ext cx="201168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3832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Battle Royale pits multiple</a:t>
            </a:r>
            <a:br/>
            <a:r>
              <a:t>LLMs against each other.</a:t>
            </a:r>
            <a:br/>
            <a:r>
              <a:t>Cross-Examination Arena lets</a:t>
            </a:r>
            <a:br/>
            <a:r>
              <a:t>AIs debate findings.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5212080"/>
            <a:ext cx="2560320" cy="9144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5303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855F7"/>
                </a:solidFill>
                <a:latin typeface="Calibri"/>
              </a:defRPr>
            </a:pPr>
            <a:r>
              <a:t>Claude • GPT-4</a:t>
            </a:r>
            <a:br/>
            <a:r>
              <a:t>Gemini • Ollama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HOW IT WORKS — BATTLE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554480" cy="32918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A0A1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RECON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Spider maps attack</a:t>
            </a:r>
            <a:br/>
            <a:r>
              <a:t>surface, endpoints,</a:t>
            </a:r>
            <a:br/>
            <a:r>
              <a:t>auth flows, secrets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47088" y="2834640"/>
            <a:ext cx="137160" cy="27432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5960" y="1463040"/>
            <a:ext cx="1554480" cy="32918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1645920"/>
            <a:ext cx="548640" cy="548640"/>
          </a:xfrm>
          <a:prstGeom prst="ellipse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A0A1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E3E"/>
                </a:solidFill>
                <a:latin typeface="Calibri"/>
              </a:defRPr>
            </a:pPr>
            <a:r>
              <a:t>ASSAULT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8346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Blade exploits vulns</a:t>
            </a:r>
            <a:br/>
            <a:r>
              <a:t>Phantom finds logic</a:t>
            </a:r>
            <a:br/>
            <a:r>
              <a:t>flaws (parallel)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38728" y="2834640"/>
            <a:ext cx="137160" cy="27432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1463040"/>
            <a:ext cx="1554480" cy="32918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A0A1A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Calibri"/>
              </a:defRPr>
            </a:pPr>
            <a:r>
              <a:t>CHAINING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8346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Venom chains low-risk</a:t>
            </a:r>
            <a:br/>
            <a:r>
              <a:t>vulns into critical</a:t>
            </a:r>
            <a:br/>
            <a:r>
              <a:t>multi-step attacks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30368" y="2834640"/>
            <a:ext cx="137160" cy="27432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49240" y="1463040"/>
            <a:ext cx="1554480" cy="32918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1645920"/>
            <a:ext cx="548640" cy="548640"/>
          </a:xfrm>
          <a:prstGeom prst="ellipse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A0A1A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alibri"/>
              </a:defRPr>
            </a:pPr>
            <a:r>
              <a:t>PATCHING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8346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Shield generates</a:t>
            </a:r>
            <a:br/>
            <a:r>
              <a:t>minimal secure patches</a:t>
            </a:r>
            <a:br/>
            <a:r>
              <a:t>Proof verifies them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22008" y="2834640"/>
            <a:ext cx="137160" cy="27432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40880" y="1463040"/>
            <a:ext cx="1554480" cy="32918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43800" y="164592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A0A1A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  <a:latin typeface="Calibri"/>
              </a:defRPr>
            </a:pPr>
            <a:r>
              <a:t>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8346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Fortress applies</a:t>
            </a:r>
            <a:br/>
            <a:r>
              <a:t>systemic defenses:</a:t>
            </a:r>
            <a:br/>
            <a:r>
              <a:t>headers, CORS, etc.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613648" y="2834640"/>
            <a:ext cx="137160" cy="27432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32520" y="1463040"/>
            <a:ext cx="1554480" cy="32918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35440" y="1645920"/>
            <a:ext cx="548640" cy="54864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A0A1A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8346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Auditor maps to</a:t>
            </a:r>
            <a:br/>
            <a:r>
              <a:t>OWASP, CWE, SOC2,</a:t>
            </a:r>
            <a:br/>
            <a:r>
              <a:t>PCI-DSS, GDPR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305288" y="2834640"/>
            <a:ext cx="137160" cy="27432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424160" y="1463040"/>
            <a:ext cx="1554480" cy="32918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27080" y="16459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A0A1A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8346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Full battle summary</a:t>
            </a:r>
            <a:br/>
            <a:r>
              <a:t>with metrics, scores,</a:t>
            </a:r>
            <a:br/>
            <a:r>
              <a:t>and PR creation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07090"/>
                </a:solidFill>
                <a:latin typeface="Calibri"/>
              </a:defRPr>
            </a:pPr>
            <a:r>
              <a:t>The entire lifecycle runs autonomously — from first scan to verified patches — in a single command.</a:t>
            </a:r>
            <a:br/>
            <a:r>
              <a:t>Real-time WebSocket updates stream every agent action to the live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E3E"/>
                </a:solidFill>
                <a:latin typeface="Calibri"/>
              </a:defRPr>
            </a:pPr>
            <a:r>
              <a:t>RED TEAM — THE ATTACKERS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3E3E"/>
                </a:solidFill>
                <a:latin typeface="Calibri"/>
              </a:defRPr>
            </a:pPr>
            <a:r>
              <a:t>SPIDER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Recon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201168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Maps all endpoints &amp; input vectors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Identifies auth flows &amp; session mgmt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Finds database queries &amp; ORM patterns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Detects secret exposures in code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Catalogs external API calls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Identifies file upload/download handlers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3E3E"/>
                </a:solidFill>
                <a:latin typeface="Calibri"/>
              </a:defRPr>
            </a:pPr>
            <a:r>
              <a:t>BLADE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Exploiter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23160"/>
            <a:ext cx="201168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Generates exploit payloads per vuln type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Tests SQL Injection (auth bypass, union)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Crafts XSS payloads (reflected, stored)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Probes SSRF, IDOR, Path Traversal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Attempts Command Injection attacks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Validates with proof-of-concept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3E3E"/>
                </a:solidFill>
                <a:latin typeface="Calibri"/>
              </a:defRPr>
            </a:pPr>
            <a:r>
              <a:t>VENOM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Chain 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423160"/>
            <a:ext cx="201168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Chains low-severity → critical attacks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Maps multi-step attack narratives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Calculates combined risk scores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Example: Info leak → IDOR → Takeover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Identifies shared vulnerable components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Produces exploit chain visualizations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3E3E"/>
                </a:solidFill>
                <a:latin typeface="Calibri"/>
              </a:defRPr>
            </a:pPr>
            <a:r>
              <a:t>PHANTOM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423160"/>
            <a:ext cx="201168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Finds price manipulation flaws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Detects coupon/discount abuse paths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Identifies workflow bypass scenarios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Discovers race condition windows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Checks privilege escalation paths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Tests negative quantity / boundary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BLUE TEAM — THE DEFENDERS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  <a:latin typeface="Calibri"/>
              </a:defRPr>
            </a:pPr>
            <a:r>
              <a:t>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Patcher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Generates minimal secure patches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Language-aware code transformations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One-line explanations for each fix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Parameterized queries for SQLi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Input sanitization for XSS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Access control fixes for IDOR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  <a:latin typeface="Calibri"/>
              </a:defRPr>
            </a:pPr>
            <a:r>
              <a:t>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Verification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2316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Re-runs exploits against patches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Confirms vulnerability is resolved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Tests for regression issues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Validates patch completeness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Ensures no new vulns introduced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Provides verification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  <a:latin typeface="Calibri"/>
              </a:defRPr>
            </a:pPr>
            <a:r>
              <a:t>FORTRESS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Hardening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42316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Adds rate limiting configurations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Sets security headers (CSP, HSTS)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Configures strict CORS policies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Enables security audit logging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Implements secrets management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Adds input validation middleware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  <a:latin typeface="Calibri"/>
              </a:defRPr>
            </a:pPr>
            <a:r>
              <a:t>AUDITOR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Compliance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42316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56032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Maps to OWASP Top 10 (2021)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Assigns CWE identifiers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Checks SOC2 Trust Criteria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Validates PCI-DSS requirements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Reviews GDPR data protection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0B0C0"/>
                </a:solidFill>
                <a:latin typeface="Calibri"/>
              </a:defRPr>
            </a:pPr>
            <a:r>
              <a:t>Before/after compliance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2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55F7"/>
                </a:solidFill>
                <a:latin typeface="Calibri"/>
              </a:defRPr>
            </a:pPr>
            <a:r>
              <a:t>BATTLE ROYALE — MULTI-LLM SHOWDOWN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9140"/>
            <a:ext cx="36576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Calibri"/>
              </a:defRPr>
            </a:pPr>
            <a:r>
              <a:t>Run the same battle across 4 LLM providers simultaneously. Compare who finds what. Then watch them debate.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C00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90"/>
                </a:solidFill>
                <a:latin typeface="Calibri"/>
              </a:defRPr>
            </a:pPr>
            <a:r>
              <a:t>claude-sonnet-4-6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2194560" cy="32004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0A1A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F88"/>
                </a:solidFill>
                <a:latin typeface="Calibri"/>
              </a:defRPr>
            </a:pPr>
            <a:r>
              <a:t>GPT-4o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90"/>
                </a:solidFill>
                <a:latin typeface="Calibri"/>
              </a:defRPr>
            </a:pPr>
            <a:r>
              <a:t>gpt-4o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657600"/>
            <a:ext cx="2194560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0A1A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FF"/>
                </a:solidFill>
                <a:latin typeface="Calibri"/>
              </a:defRPr>
            </a:pPr>
            <a:r>
              <a:t>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90"/>
                </a:solidFill>
                <a:latin typeface="Calibri"/>
              </a:defRPr>
            </a:pPr>
            <a:r>
              <a:t>gemini-2.0-flash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657600"/>
            <a:ext cx="2194560" cy="3200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0A1A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01168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855F7"/>
                </a:solidFill>
                <a:latin typeface="Calibri"/>
              </a:defRPr>
            </a:pPr>
            <a:r>
              <a:t>OLLAMA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Calibri"/>
              </a:defRPr>
            </a:pPr>
            <a:r>
              <a:t>Local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90"/>
                </a:solidFill>
                <a:latin typeface="Calibri"/>
              </a:defRPr>
            </a:pPr>
            <a:r>
              <a:t>llama3.1 / custom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3657600"/>
            <a:ext cx="2194560" cy="32004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0A1A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572000"/>
            <a:ext cx="11430000" cy="192024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600"/>
                </a:solidFill>
                <a:latin typeface="Calibri"/>
              </a:defRPr>
            </a:pPr>
            <a:r>
              <a:t>CROSS-EXAMINATION ARENA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B0B0C0"/>
                </a:solidFill>
                <a:latin typeface="Calibri"/>
              </a:defRPr>
            </a:pPr>
            <a:r>
              <a:t>Two LLMs debate each other's findings live: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70709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1. Challenger questions severity &amp; patch quality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2. Defender argues or concedes with evidence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3. Verdict determines final classification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846320"/>
            <a:ext cx="2286000" cy="13716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3E3E"/>
                </a:solidFill>
                <a:latin typeface="Calibri"/>
              </a:defRPr>
            </a:pPr>
            <a:r>
              <a:t>CHALLENGER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03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"Is this really critical?</a:t>
            </a:r>
            <a:br/>
            <a:r>
              <a:t>The CVSS score seems</a:t>
            </a:r>
            <a:br/>
            <a:r>
              <a:t>inflated..."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600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4846320"/>
            <a:ext cx="2286000" cy="13716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alibri"/>
              </a:defRPr>
            </a:pPr>
            <a:r>
              <a:t>DEFENDER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303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"The chain from info</a:t>
            </a:r>
            <a:br/>
            <a:r>
              <a:t>leak to account takeover</a:t>
            </a:r>
            <a:br/>
            <a:r>
              <a:t>confirms critical."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50292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65960"/>
            <a:ext cx="219456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Core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06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REST &amp; WebSocket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Anthropic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Claude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t>OpenAI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GPT-4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Google GenAI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Gemini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E3E"/>
                </a:solidFill>
                <a:latin typeface="Calibri"/>
              </a:defRPr>
            </a:pPr>
            <a:r>
              <a:t>Bandit + Semgrep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Security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0C0"/>
                </a:solidFill>
                <a:latin typeface="Calibri"/>
              </a:defRPr>
            </a:pPr>
            <a:r>
              <a:t>GitPython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Repository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0C0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Data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371600"/>
            <a:ext cx="3657600" cy="50292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965960"/>
            <a:ext cx="219456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React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606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06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Type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Utility-first styling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Data visualization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Calibri"/>
              </a:defRPr>
            </a:pPr>
            <a:r>
              <a:t>Force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Network visualization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Real-time streaming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0C0"/>
                </a:solidFill>
                <a:latin typeface="Calibri"/>
              </a:defRPr>
            </a:pPr>
            <a:r>
              <a:t>Lucide Icons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438+ SVG icons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0C0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UI library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1371600"/>
            <a:ext cx="3657600" cy="50292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1965960"/>
            <a:ext cx="219456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Containerization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2606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6060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Multi-service orchestration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ASGI server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0C0"/>
                </a:solidFill>
                <a:latin typeface="Calibri"/>
              </a:defRPr>
            </a:pPr>
            <a:r>
              <a:t>GitHub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PR automation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0C0"/>
                </a:solidFill>
                <a:latin typeface="Calibri"/>
              </a:defRPr>
            </a:pPr>
            <a:r>
              <a:t>Makefile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Build automation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Calibri"/>
              </a:defRPr>
            </a:pPr>
            <a:r>
              <a:t>3 Services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Backend + Frontend + Target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7090"/>
                </a:solidFill>
                <a:latin typeface="Calibri"/>
              </a:defRPr>
            </a:pPr>
            <a:r>
              <a:t>Port 8000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7090"/>
                </a:solidFill>
                <a:latin typeface="Calibri"/>
              </a:defRPr>
            </a:pPr>
            <a:r>
              <a:t>Port 3000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5623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90"/>
                </a:solidFill>
                <a:latin typeface="Calibri"/>
              </a:defRPr>
            </a:pPr>
            <a:r>
              <a:t>Frontend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37760" y="1280160"/>
            <a:ext cx="2286000" cy="7315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User / Browser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011680"/>
            <a:ext cx="274320" cy="365760"/>
          </a:xfrm>
          <a:prstGeom prst="down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2468880"/>
            <a:ext cx="4846320" cy="109728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514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FRONTEND — Next.js 14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90"/>
                </a:solidFill>
                <a:latin typeface="Calibri"/>
              </a:defRPr>
            </a:pPr>
            <a:r>
              <a:t>Dashboard • Battle Map • Agent Terminal • Vuln Cards • Charts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3611880"/>
            <a:ext cx="274320" cy="365760"/>
          </a:xfrm>
          <a:prstGeom prst="down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332720" cy="246888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BACKEND — FastAPI + Python 3.12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572000"/>
            <a:ext cx="2011680" cy="64008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600"/>
                </a:solidFill>
                <a:latin typeface="Calibri"/>
              </a:defRPr>
            </a:pPr>
            <a:r>
              <a:t>War General</a:t>
            </a:r>
            <a:br/>
            <a:r>
              <a:t>(Orchestrator)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572000"/>
            <a:ext cx="3200400" cy="164592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3E3E"/>
                </a:solidFill>
                <a:latin typeface="Calibri"/>
              </a:defRPr>
            </a:pPr>
            <a:r>
              <a:t>RED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4937760"/>
            <a:ext cx="1371600" cy="32004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Spider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937760"/>
            <a:ext cx="1371600" cy="32004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Blade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5532120"/>
            <a:ext cx="1371600" cy="32004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Venom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532120"/>
            <a:ext cx="1371600" cy="32004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Phantom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4572000"/>
            <a:ext cx="3200400" cy="164592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Calibri"/>
              </a:defRPr>
            </a:pPr>
            <a:r>
              <a:t>BLUE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4937760"/>
            <a:ext cx="1371600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Shield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4937760"/>
            <a:ext cx="1371600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Proof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5532120"/>
            <a:ext cx="1371600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Fortress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5532120"/>
            <a:ext cx="1371600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Auditor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5394960"/>
            <a:ext cx="2011680" cy="64008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440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855F7"/>
                </a:solidFill>
                <a:latin typeface="Calibri"/>
              </a:defRPr>
            </a:pPr>
            <a:r>
              <a:t>LLM Layer</a:t>
            </a:r>
            <a:br/>
            <a:r>
              <a:t>Claude • GPT • Gemini • Ollama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468880"/>
            <a:ext cx="2926080" cy="109728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Calibri"/>
              </a:defRPr>
            </a:pPr>
            <a:r>
              <a:t>TARGET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90"/>
                </a:solidFill>
                <a:latin typeface="Calibri"/>
              </a:defRPr>
            </a:pPr>
            <a:r>
              <a:t>GitHub Repo / Vulnerable App</a:t>
            </a:r>
            <a:br/>
            <a:r>
              <a:t>Express + SQLite (port 3001)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2468880"/>
            <a:ext cx="2926080" cy="109728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B0B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Calibri"/>
              </a:defRPr>
            </a:pPr>
            <a:r>
              <a:t>GITHUB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90"/>
                </a:solidFill>
                <a:latin typeface="Calibri"/>
              </a:defRPr>
            </a:pPr>
            <a:r>
              <a:t>Repo Cloning</a:t>
            </a:r>
            <a:br/>
            <a:r>
              <a:t>PR Creation with Patches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405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E3E"/>
                </a:solidFill>
                <a:latin typeface="Calibri"/>
              </a:defRPr>
            </a:pPr>
            <a:r>
              <a:t>VULNERABILITY DETECTION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92480"/>
            <a:ext cx="365760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SQL Injection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481328"/>
            <a:ext cx="914400" cy="256032"/>
          </a:xfrm>
          <a:prstGeom prst="round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Auth bypass, data extraction,</a:t>
            </a:r>
            <a:br/>
            <a:r>
              <a:t>union-based, blind SQLi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XSS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481328"/>
            <a:ext cx="914400" cy="25603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74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Reflected, stored, DOM-based</a:t>
            </a:r>
            <a:br/>
            <a:r>
              <a:t>cross-site scripting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SSRF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481328"/>
            <a:ext cx="914400" cy="25603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Server-side request forgery</a:t>
            </a:r>
            <a:br/>
            <a:r>
              <a:t>to internal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716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1481328"/>
            <a:ext cx="914400" cy="25603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Insecure direct object</a:t>
            </a:r>
            <a:br/>
            <a:r>
              <a:t>reference / broken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004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Path Traversal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310128"/>
            <a:ext cx="914400" cy="256032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Directory traversal to read</a:t>
            </a:r>
            <a:br/>
            <a:r>
              <a:t>arbitrary system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2004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Command Injection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3310128"/>
            <a:ext cx="914400" cy="256032"/>
          </a:xfrm>
          <a:prstGeom prst="round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703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OS command injection via</a:t>
            </a:r>
            <a:br/>
            <a:r>
              <a:t>unsanitized user input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004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 Bypass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310128"/>
            <a:ext cx="914400" cy="256032"/>
          </a:xfrm>
          <a:prstGeom prst="round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Authentication &amp; session</a:t>
            </a:r>
            <a:br/>
            <a:r>
              <a:t>management flaws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2004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0" y="3310128"/>
            <a:ext cx="914400" cy="256032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A0A1A"/>
                </a:solidFill>
                <a:latin typeface="Calibri"/>
              </a:defRPr>
            </a:pPr>
            <a:r>
              <a:t>MEDIUM-HIGH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703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Price manipulation, coupon</a:t>
            </a:r>
            <a:br/>
            <a:r>
              <a:t>abuse, race conditions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0292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Missing Rate Limit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5138928"/>
            <a:ext cx="914400" cy="256032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A0A1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32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Brute force, DoS via</a:t>
            </a:r>
            <a:br/>
            <a:r>
              <a:t>unthrottled endpoints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50292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 Leak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5138928"/>
            <a:ext cx="914400" cy="256032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A0A1A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32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Sensitive data exposure,</a:t>
            </a:r>
            <a:br/>
            <a:r>
              <a:t>verbose errors, headers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0292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707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Insecure Deps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5138928"/>
            <a:ext cx="914400" cy="256032"/>
          </a:xfrm>
          <a:prstGeom prst="roundRect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532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Known CVEs in third-party</a:t>
            </a:r>
            <a:br/>
            <a:r>
              <a:t>packages &amp; libraries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5029200"/>
            <a:ext cx="2743200" cy="155448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+ Attack Chains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0" y="5138928"/>
            <a:ext cx="914400" cy="256032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5532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Multi-step attacks chaining</a:t>
            </a:r>
            <a:br/>
            <a:r>
              <a:t>low-risk into 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600"/>
                </a:solidFill>
                <a:latin typeface="Calibri"/>
              </a:defRPr>
            </a:pPr>
            <a:r>
              <a:t>COMPLIANCE &amp;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94560" cy="32004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3E3E"/>
                </a:solidFill>
                <a:latin typeface="Calibri"/>
              </a:defRPr>
            </a:pPr>
            <a:r>
              <a:t>OWASP</a:t>
            </a:r>
            <a:br/>
            <a:r>
              <a:t>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64592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Industry standard for</a:t>
            </a:r>
            <a:br/>
            <a:r>
              <a:t>web app security risks.</a:t>
            </a:r>
            <a:br/>
            <a:r>
              <a:t>Maps every finding to</a:t>
            </a:r>
            <a:br/>
            <a:r>
              <a:t>OWASP 2021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645920" cy="32004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A01-A10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371600"/>
            <a:ext cx="2194560" cy="32004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554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Calibri"/>
              </a:defRPr>
            </a:pPr>
            <a:r>
              <a:t>CWE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286000"/>
            <a:ext cx="164592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46888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Common Weakness</a:t>
            </a:r>
            <a:br/>
            <a:r>
              <a:t>Enumeration identifiers.</a:t>
            </a:r>
            <a:br/>
            <a:r>
              <a:t>Precise vulnerability</a:t>
            </a:r>
            <a:br/>
            <a:r>
              <a:t>classification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023360"/>
            <a:ext cx="1645920" cy="32004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600+ IDs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194560" cy="32004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554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SOC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286000"/>
            <a:ext cx="16459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46888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Trust Service Criteria</a:t>
            </a:r>
            <a:br/>
            <a:r>
              <a:t>for service organizations.</a:t>
            </a:r>
            <a:br/>
            <a:r>
              <a:t>Security, availability,</a:t>
            </a:r>
            <a:br/>
            <a:r>
              <a:t>processing integrity.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023360"/>
            <a:ext cx="1645920" cy="3200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5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371600"/>
            <a:ext cx="2194560" cy="32004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554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8"/>
                </a:solidFill>
                <a:latin typeface="Calibri"/>
              </a:defRPr>
            </a:pPr>
            <a:r>
              <a:t>PCI-DSS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286000"/>
            <a:ext cx="164592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46888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Payment Card Industry</a:t>
            </a:r>
            <a:br/>
            <a:r>
              <a:t>Data Security Standard.</a:t>
            </a:r>
            <a:br/>
            <a:r>
              <a:t>Required for handling</a:t>
            </a:r>
            <a:br/>
            <a:r>
              <a:t>credit card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023360"/>
            <a:ext cx="1645920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 Reqs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371600"/>
            <a:ext cx="2194560" cy="320040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554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55F7"/>
                </a:solidFill>
                <a:latin typeface="Calibri"/>
              </a:defRPr>
            </a:pPr>
            <a:r>
              <a:t>GDPR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2286000"/>
            <a:ext cx="164592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46888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General Data Protection</a:t>
            </a:r>
            <a:br/>
            <a:r>
              <a:t>Regulation. Data exposure</a:t>
            </a:r>
            <a:br/>
            <a:r>
              <a:t>and privacy violation</a:t>
            </a:r>
            <a:br/>
            <a:r>
              <a:t>mapping.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4023360"/>
            <a:ext cx="1645920" cy="32004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99 Articles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846320"/>
            <a:ext cx="11612880" cy="164592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Calibri"/>
              </a:defRPr>
            </a:pPr>
            <a:r>
              <a:t>COMPLIANCE SCORE IMPROVEMENT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5029200"/>
            <a:ext cx="2743200" cy="45720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BEFORE:  35/100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955279" y="5074920"/>
            <a:ext cx="457200" cy="320040"/>
          </a:xfrm>
          <a:prstGeom prst="rightArrow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95360" y="5029200"/>
            <a:ext cx="3200400" cy="45720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1A"/>
                </a:solidFill>
                <a:latin typeface="Calibri"/>
              </a:defRPr>
            </a:pPr>
            <a:r>
              <a:t>AFTER:  92/100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707090"/>
                </a:solidFill>
                <a:latin typeface="Calibri"/>
              </a:defRPr>
            </a:pPr>
            <a:r>
              <a:t>Before/after scoring for every compliance framework  •  Risk reduction percentage  •  Per-finding compliance mapping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FFD600"/>
                </a:solidFill>
                <a:latin typeface="Calibri"/>
              </a:defRPr>
            </a:pPr>
            <a:r>
              <a:t>Exportable reports ready for auditors and stakeholders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LIVE DASHBOARD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Real-Time Battle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WebSocket-driven live updates as</a:t>
            </a:r>
            <a:br/>
            <a:r>
              <a:t>agents discover and patch</a:t>
            </a:r>
            <a:br/>
            <a:r>
              <a:t>vulnerabilities in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Calibri"/>
              </a:defRPr>
            </a:pPr>
            <a:r>
              <a:t>Agent Terminal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182880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Watch AI agent thoughts and</a:t>
            </a:r>
            <a:br/>
            <a:r>
              <a:t>actions stream like a hacker's</a:t>
            </a:r>
            <a:br/>
            <a:r>
              <a:t>terminal — live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E3E"/>
                </a:solidFill>
                <a:latin typeface="Calibri"/>
              </a:defRPr>
            </a:pPr>
            <a:r>
              <a:t>Vulnerability Cards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011680"/>
            <a:ext cx="182880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Each vuln displayed with severity</a:t>
            </a:r>
            <a:br/>
            <a:r>
              <a:t>badge, CVSS score, affected code,</a:t>
            </a:r>
            <a:br/>
            <a:r>
              <a:t>and exploitation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/>
              </a:defRPr>
            </a:pPr>
            <a:r>
              <a:t>Attack Chain 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18288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Interactive force-directed graph</a:t>
            </a:r>
            <a:br/>
            <a:r>
              <a:t>showing how vulnerabilities</a:t>
            </a:r>
            <a:br/>
            <a:r>
              <a:t>chain into critical attacks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93192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Patch Diff 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57200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7548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Side-by-side code diff showing</a:t>
            </a:r>
            <a:br/>
            <a:r>
              <a:t>exactly what changed in each</a:t>
            </a:r>
            <a:br/>
            <a:r>
              <a:t>security patch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Calibri"/>
              </a:defRPr>
            </a:pPr>
            <a:r>
              <a:t>Phase Transitions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4572000"/>
            <a:ext cx="1828800" cy="381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Calibri"/>
              </a:defRPr>
            </a:pPr>
            <a:r>
              <a:t>Full-screen cinematic overlays</a:t>
            </a:r>
            <a:br/>
            <a:r>
              <a:t>when battle transitions between</a:t>
            </a:r>
            <a:br/>
            <a:r>
              <a:t>phases — immersive 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07090"/>
                </a:solidFill>
                <a:latin typeface="Calibri"/>
              </a:defRPr>
            </a:pPr>
            <a:r>
              <a:t>+ Boot Sequence Animation  •  Matrix Rain Background  •  Sound Effects  •  Session History  •  Provider Selector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  <a:latin typeface="Calibri"/>
              </a:defRPr>
            </a:pPr>
            <a:r>
              <a:t>LIVE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54480"/>
            <a:ext cx="1371600" cy="3200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Paste a GitHub repo URL or use</a:t>
            </a:r>
            <a:br/>
            <a:r>
              <a:t>the built-in vulnerable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554480"/>
            <a:ext cx="1371600" cy="32004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Select LLM providers and</a:t>
            </a:r>
            <a:br/>
            <a:r>
              <a:t>launch Battle Royale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554480"/>
            <a:ext cx="1371600" cy="3200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RECON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Watch Spider scan the codebase</a:t>
            </a:r>
            <a:br/>
            <a:r>
              <a:t>and map attack surface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7160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60" y="1508760"/>
            <a:ext cx="457200" cy="457200"/>
          </a:xfrm>
          <a:prstGeom prst="ellipse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554480"/>
            <a:ext cx="1371600" cy="320040"/>
          </a:xfrm>
          <a:prstGeom prst="round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EXPLOIT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945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See Blade exploit SQL injection</a:t>
            </a:r>
            <a:br/>
            <a:r>
              <a:t>with proof-of-concept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93192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4069080"/>
            <a:ext cx="457200" cy="457200"/>
          </a:xfrm>
          <a:prstGeom prst="ellipse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114800"/>
            <a:ext cx="1371600" cy="320040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Watch Shield generate patches</a:t>
            </a:r>
            <a:br/>
            <a:r>
              <a:t>and Proof verify them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93192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29000" y="406908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4114800"/>
            <a:ext cx="1371600" cy="32004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54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Compare findings across LLMs</a:t>
            </a:r>
            <a:br/>
            <a:r>
              <a:t>in side-by-side racing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3192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4069080"/>
            <a:ext cx="457200" cy="457200"/>
          </a:xfrm>
          <a:prstGeom prst="ellipse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4114800"/>
            <a:ext cx="1371600" cy="320040"/>
          </a:xfrm>
          <a:prstGeom prst="round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A0A1A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Watch Cross-Examination Arena</a:t>
            </a:r>
            <a:br/>
            <a:r>
              <a:t>where LLMs debate findings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931920"/>
            <a:ext cx="274320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81160" y="406908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A1A"/>
                </a:solidFill>
              </a:defRPr>
            </a:pPr>
            <a:r>
              <a:t>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4114800"/>
            <a:ext cx="1371600" cy="32004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7548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View compliance report with</a:t>
            </a:r>
            <a:br/>
            <a:r>
              <a:t>OWASP/SOC2/PCI-DSS scores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5745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WHY ZERO DAY FORTRESS STANDS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32485"/>
            <a:ext cx="3657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  <a:latin typeface="Calibri"/>
              </a:defRPr>
            </a:pPr>
            <a:r>
              <a:t>Fully Autonomous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210312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From first scan to verified</a:t>
            </a:r>
            <a:br/>
            <a:r>
              <a:t>patches — zero human</a:t>
            </a:r>
            <a:br/>
            <a:r>
              <a:t>intervention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Multi-LLM 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148840"/>
            <a:ext cx="210312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First platform to pit Claude,</a:t>
            </a:r>
            <a:br/>
            <a:r>
              <a:t>GPT-4, Gemini &amp; Ollama</a:t>
            </a:r>
            <a:br/>
            <a:r>
              <a:t>against each other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600"/>
                </a:solidFill>
                <a:latin typeface="Calibri"/>
              </a:defRPr>
            </a:pPr>
            <a:r>
              <a:t>AI Debates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148840"/>
            <a:ext cx="2103120" cy="381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Cross-Examination Arena:</a:t>
            </a:r>
            <a:br/>
            <a:r>
              <a:t>LLMs challenge each other's</a:t>
            </a:r>
            <a:br/>
            <a:r>
              <a:t>security analysis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Find + Fix + Verify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709160"/>
            <a:ext cx="21031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Not just detection — auto</a:t>
            </a:r>
            <a:br/>
            <a:r>
              <a:t>patching with verification.</a:t>
            </a:r>
            <a:br/>
            <a:r>
              <a:t>Complete remediation loop.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93192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Enterprise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470916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Instant OWASP, SOC2,</a:t>
            </a:r>
            <a:br/>
            <a:r>
              <a:t>PCI-DSS, GDPR mapping</a:t>
            </a:r>
            <a:br/>
            <a:r>
              <a:t>with before/after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219456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3E3E"/>
                </a:solidFill>
                <a:latin typeface="Calibri"/>
              </a:defRPr>
            </a:pPr>
            <a:r>
              <a:t>Real-Time Cinema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4709160"/>
            <a:ext cx="2103120" cy="38100"/>
          </a:xfrm>
          <a:prstGeom prst="rect">
            <a:avLst/>
          </a:prstGeom>
          <a:solidFill>
            <a:srgbClr val="FF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0C0"/>
                </a:solidFill>
                <a:latin typeface="Calibri"/>
              </a:defRPr>
            </a:pPr>
            <a:r>
              <a:t>Immersive dashboard with</a:t>
            </a:r>
            <a:br/>
            <a:r>
              <a:t>live battles, animations,</a:t>
            </a:r>
            <a:br/>
            <a:r>
              <a:t>sound effects &amp; 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55F7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FF88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Hackathon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2011680" cy="381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8 AI agents (4 Red + 4 Blue)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4 LLM providers supported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Battle Royale &amp; Cross-Exam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Real-time dashboard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5 compliance frameworks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3474720"/>
            <a:ext cx="182880" cy="36576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D4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Post-Hackathon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423160"/>
            <a:ext cx="201168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CI/CD pipeline integration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GitHub Actions / GitLab CI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Scheduled recurring scans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Team collaboration features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Custom rule definitions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53328" y="3474720"/>
            <a:ext cx="182880" cy="36576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855F7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Enterprise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423160"/>
            <a:ext cx="201168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SaaS platform deployment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Multi-repo organization scan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Historical trend analytics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SIEM/SOAR integration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SOC analyst copilot mode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79408" y="3474720"/>
            <a:ext cx="182880" cy="365760"/>
          </a:xfrm>
          <a:prstGeom prst="rightArrow">
            <a:avLst/>
          </a:prstGeom>
          <a:solidFill>
            <a:srgbClr val="70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743200" cy="4846320"/>
          </a:xfrm>
          <a:prstGeom prst="roundRect">
            <a:avLst/>
          </a:prstGeom>
          <a:solidFill>
            <a:srgbClr val="12142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C00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7090"/>
                </a:solidFill>
                <a:latin typeface="Calibri"/>
              </a:defRPr>
            </a:pPr>
            <a:r>
              <a:t>The End Game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423160"/>
            <a:ext cx="201168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25603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Every PR auto-scanned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Zero-day prediction engine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Threat intelligence feeds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Autonomous incident response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  AI security mesh network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394960" y="731520"/>
            <a:ext cx="1371600" cy="1371600"/>
          </a:xfrm>
          <a:prstGeom prst="diamond">
            <a:avLst/>
          </a:prstGeom>
          <a:noFill/>
          <a:ln w="381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ZERO DAY FORTRESS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0040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Calibri"/>
              </a:defRPr>
            </a:pPr>
            <a:r>
              <a:t>The future of autonomous cybersecurity is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1828800" cy="128016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E3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206240"/>
            <a:ext cx="1828800" cy="128016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LLM Providers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206240"/>
            <a:ext cx="1828800" cy="128016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8C00"/>
                </a:solidFill>
                <a:latin typeface="Calibri"/>
              </a:defRPr>
            </a:pPr>
            <a:r>
              <a:t>12+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Vuln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4206240"/>
            <a:ext cx="1828800" cy="128016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Compliance</a:t>
            </a:r>
            <a:br/>
            <a:r>
              <a:t>Frameworks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4206240"/>
            <a:ext cx="1828800" cy="128016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Battle</a:t>
            </a:r>
            <a:br/>
            <a:r>
              <a:t>Phases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7090"/>
                </a:solidFill>
                <a:latin typeface="Calibri"/>
              </a:defRPr>
            </a:pPr>
            <a:r>
              <a:t>github.com/NavaNaveen/Zero-day-fortess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217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9655</Words>
  <Application>WPS Presentation</Application>
  <PresentationFormat>On-screen Show (4:3)</PresentationFormat>
  <Paragraphs>688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Calibri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navaselvam</cp:lastModifiedBy>
  <cp:revision>2</cp:revision>
  <dcterms:created xsi:type="dcterms:W3CDTF">2026-02-21T17:22:12Z</dcterms:created>
  <dcterms:modified xsi:type="dcterms:W3CDTF">2026-02-21T17:22:12Z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86BC758FF10F95D0C3E99969C7E9FBE6_42</vt:lpwstr>
  </property>
  <property fmtid="{D5CDD505-2E9C-101B-9397-08002B2CF9AE}" pid="3" name="KSOProductBuildVer">
    <vt:lpwstr>1033-12.1.22533.22533</vt:lpwstr>
  </property>
</Properties>
</file>